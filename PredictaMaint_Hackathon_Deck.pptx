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outlineViewPr/>
  <p:notesTextViewPr/>
  <p:sorterViewPr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50000" y="420000"/>
            <a:ext cx="5000000" cy="4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600" b="1">
                <a:solidFill>
                  <a:srgbClr val="5BE7FF"/>
                </a:solidFill>
              </a:rPr>
              <a:t>Hack Malenadu '26 | Industrial Intelligence</a:t>
            </a:r>
            <a:endParaRPr lang="en-US" sz="1600">
              <a:solidFill>
                <a:srgbClr val="5BE7FF"/>
              </a:solidFill>
            </a:endParaRPr>
          </a:p>
        </p:txBody>
      </p:sp>
      <p:sp>
        <p:nvSpPr>
          <p:cNvPr id="3" name="Title"/>
          <p:cNvSpPr txBox="1"/>
          <p:nvPr/>
        </p:nvSpPr>
        <p:spPr>
          <a:xfrm>
            <a:off x="550000" y="950000"/>
            <a:ext cx="8600000" cy="1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400" b="1">
                <a:solidFill>
                  <a:srgbClr val="EDF6FF"/>
                </a:solidFill>
              </a:rPr>
              <a:t>PredictaMaint</a:t>
            </a:r>
            <a:endParaRPr lang="en-US" sz="3400">
              <a:solidFill>
                <a:srgbClr val="EDF6FF"/>
              </a:solidFill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550000" y="2050000"/>
            <a:ext cx="92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200" b="0">
                <a:solidFill>
                  <a:srgbClr val="9CB1CC"/>
                </a:solidFill>
              </a:rPr>
              <a:t>AI-Powered Predictive Maintenance Agent</a:t>
            </a:r>
            <a:endParaRPr lang="en-US" sz="2200">
              <a:solidFill>
                <a:srgbClr val="9CB1CC"/>
              </a:solidFill>
            </a:endParaRPr>
          </a:p>
        </p:txBody>
      </p:sp>
      <p:sp>
        <p:nvSpPr>
          <p:cNvPr id="5" name="Metric 1"/>
          <p:cNvSpPr/>
          <p:nvPr/>
        </p:nvSpPr>
        <p:spPr>
          <a:xfrm>
            <a:off x="550000" y="3200000"/>
            <a:ext cx="2400000" cy="1000000"/>
          </a:xfrm>
          <a:prstGeom prst="roundRect">
            <a:avLst/>
          </a:prstGeom>
          <a:solidFill>
            <a:srgbClr val="0D2035"/>
          </a:solidFill>
          <a:ln w="19050">
            <a:solidFill>
              <a:srgbClr val="5BE7FF"/>
            </a:solidFill>
          </a:ln>
        </p:spPr>
        <p:txBody>
          <a:bodyPr wrap="square" rtlCol="0" anchor="ctr"/>
          <a:lstStyle/>
          <a:p>
            <a:r>
              <a:rPr lang="en-US" sz="2000" b="1">
                <a:solidFill>
                  <a:srgbClr val="EDF6FF"/>
                </a:solidFill>
              </a:rPr>
              <a:t>4 Machines
Live Monitored</a:t>
            </a:r>
            <a:endParaRPr lang="en-US" sz="2000">
              <a:solidFill>
                <a:srgbClr val="EDF6FF"/>
              </a:solidFill>
            </a:endParaRPr>
          </a:p>
        </p:txBody>
      </p:sp>
      <p:sp>
        <p:nvSpPr>
          <p:cNvPr id="6" name="Metric 2"/>
          <p:cNvSpPr/>
          <p:nvPr/>
        </p:nvSpPr>
        <p:spPr>
          <a:xfrm>
            <a:off x="3200000" y="3200000"/>
            <a:ext cx="2400000" cy="1000000"/>
          </a:xfrm>
          <a:prstGeom prst="roundRect">
            <a:avLst/>
          </a:prstGeom>
          <a:solidFill>
            <a:srgbClr val="0D2035"/>
          </a:solidFill>
          <a:ln w="19050">
            <a:solidFill>
              <a:srgbClr val="39F0A7"/>
            </a:solidFill>
          </a:ln>
        </p:spPr>
        <p:txBody>
          <a:bodyPr wrap="square" rtlCol="0" anchor="ctr"/>
          <a:lstStyle/>
          <a:p>
            <a:r>
              <a:rPr lang="en-US" sz="2000" b="1">
                <a:solidFill>
                  <a:srgbClr val="EDF6FF"/>
                </a:solidFill>
              </a:rPr>
              <a:t>Real-Time
SSE Dashboard</a:t>
            </a:r>
            <a:endParaRPr lang="en-US" sz="2000">
              <a:solidFill>
                <a:srgbClr val="EDF6FF"/>
              </a:solidFill>
            </a:endParaRPr>
          </a:p>
        </p:txBody>
      </p:sp>
      <p:sp>
        <p:nvSpPr>
          <p:cNvPr id="7" name="Metric 3"/>
          <p:cNvSpPr/>
          <p:nvPr/>
        </p:nvSpPr>
        <p:spPr>
          <a:xfrm>
            <a:off x="5850000" y="3200000"/>
            <a:ext cx="2400000" cy="1000000"/>
          </a:xfrm>
          <a:prstGeom prst="roundRect">
            <a:avLst/>
          </a:prstGeom>
          <a:solidFill>
            <a:srgbClr val="0D2035"/>
          </a:solidFill>
          <a:ln w="19050">
            <a:solidFill>
              <a:srgbClr val="FFD36A"/>
            </a:solidFill>
          </a:ln>
        </p:spPr>
        <p:txBody>
          <a:bodyPr wrap="square" rtlCol="0" anchor="ctr"/>
          <a:lstStyle/>
          <a:p>
            <a:r>
              <a:rPr lang="en-US" sz="2000" b="1">
                <a:solidFill>
                  <a:srgbClr val="EDF6FF"/>
                </a:solidFill>
              </a:rPr>
              <a:t>ML Risk
Scoring</a:t>
            </a:r>
            <a:endParaRPr lang="en-US" sz="2000">
              <a:solidFill>
                <a:srgbClr val="EDF6FF"/>
              </a:solidFill>
            </a:endParaRPr>
          </a:p>
        </p:txBody>
      </p:sp>
      <p:sp>
        <p:nvSpPr>
          <p:cNvPr id="8" name="Metric 4"/>
          <p:cNvSpPr/>
          <p:nvPr/>
        </p:nvSpPr>
        <p:spPr>
          <a:xfrm>
            <a:off x="8500000" y="3200000"/>
            <a:ext cx="2400000" cy="1000000"/>
          </a:xfrm>
          <a:prstGeom prst="roundRect">
            <a:avLst/>
          </a:prstGeom>
          <a:solidFill>
            <a:srgbClr val="0D2035"/>
          </a:solidFill>
          <a:ln w="19050">
            <a:solidFill>
              <a:srgbClr val="FF9A57"/>
            </a:solidFill>
          </a:ln>
        </p:spPr>
        <p:txBody>
          <a:bodyPr wrap="square" rtlCol="0" anchor="ctr"/>
          <a:lstStyle/>
          <a:p>
            <a:r>
              <a:rPr lang="en-US" sz="2000" b="1">
                <a:solidFill>
                  <a:srgbClr val="EDF6FF"/>
                </a:solidFill>
              </a:rPr>
              <a:t>Auto Alert &amp;
Maintenance</a:t>
            </a:r>
            <a:endParaRPr lang="en-US" sz="2000">
              <a:solidFill>
                <a:srgbClr val="EDF6FF"/>
              </a:solidFill>
            </a:endParaRPr>
          </a:p>
        </p:txBody>
      </p:sp>
      <p:sp>
        <p:nvSpPr>
          <p:cNvPr id="9" name="Footer"/>
          <p:cNvSpPr txBox="1"/>
          <p:nvPr/>
        </p:nvSpPr>
        <p:spPr>
          <a:xfrm>
            <a:off x="550000" y="50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200" b="0">
                <a:solidFill>
                  <a:srgbClr val="9CB1CC"/>
                </a:solidFill>
              </a:rPr>
              <a:t>Team deck generated from project repo</a:t>
            </a:r>
            <a:endParaRPr lang="en-US" sz="1200">
              <a:solidFill>
                <a:srgbClr val="9CB1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300000"/>
            <a:ext cx="6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600" b="1">
                <a:solidFill>
                  <a:srgbClr val="EDF6FF"/>
                </a:solidFill>
              </a:rPr>
              <a:t>Problem &amp; Opportunity</a:t>
            </a:r>
            <a:endParaRPr lang="en-US" sz="2600">
              <a:solidFill>
                <a:srgbClr val="EDF6FF"/>
              </a:solidFill>
            </a:endParaRPr>
          </a:p>
        </p:txBody>
      </p:sp>
      <p:sp>
        <p:nvSpPr>
          <p:cNvPr id="3" name="Problem"/>
          <p:cNvSpPr/>
          <p:nvPr/>
        </p:nvSpPr>
        <p:spPr>
          <a:xfrm>
            <a:off x="500000" y="1100000"/>
            <a:ext cx="5100000" cy="4500000"/>
          </a:xfrm>
          <a:prstGeom prst="roundRect">
            <a:avLst/>
          </a:prstGeom>
          <a:solidFill>
            <a:srgbClr val="0E2238"/>
          </a:solidFill>
          <a:ln w="19050">
            <a:solidFill>
              <a:srgbClr val="FF6B7C"/>
            </a:solidFill>
          </a:ln>
        </p:spPr>
      </p:sp>
      <p:sp>
        <p:nvSpPr>
          <p:cNvPr id="4" name="Problem text"/>
          <p:cNvSpPr txBox="1"/>
          <p:nvPr/>
        </p:nvSpPr>
        <p:spPr>
          <a:xfrm>
            <a:off x="800000" y="1400000"/>
            <a:ext cx="4500000" cy="38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Unexpected machine faults cause downtime, loss, and reactive maintenance.</a:t>
            </a:r>
            <a:endParaRPr lang="en-US" sz="19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Operators need one view across all assets, not isolated machine screens.</a:t>
            </a:r>
            <a:endParaRPr lang="en-US" sz="19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Transient spikes and gradual wear are both hard to detect early.</a:t>
            </a:r>
            <a:endParaRPr lang="en-US" sz="1900">
              <a:solidFill>
                <a:srgbClr val="EDF6FF"/>
              </a:solidFill>
            </a:endParaRPr>
          </a:p>
        </p:txBody>
      </p:sp>
      <p:sp>
        <p:nvSpPr>
          <p:cNvPr id="5" name="Opportunity"/>
          <p:cNvSpPr/>
          <p:nvPr/>
        </p:nvSpPr>
        <p:spPr>
          <a:xfrm>
            <a:off x="6400000" y="1100000"/>
            <a:ext cx="5100000" cy="4500000"/>
          </a:xfrm>
          <a:prstGeom prst="roundRect">
            <a:avLst/>
          </a:prstGeom>
          <a:solidFill>
            <a:srgbClr val="0E2238"/>
          </a:solidFill>
          <a:ln w="19050">
            <a:solidFill>
              <a:srgbClr val="5BE7FF"/>
            </a:solidFill>
          </a:ln>
        </p:spPr>
      </p:sp>
      <p:sp>
        <p:nvSpPr>
          <p:cNvPr id="6" name="Opportunity text"/>
          <p:cNvSpPr txBox="1"/>
          <p:nvPr/>
        </p:nvSpPr>
        <p:spPr>
          <a:xfrm>
            <a:off x="6700000" y="1400000"/>
            <a:ext cx="4500000" cy="38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Score sensor anomalies in real time.</a:t>
            </a:r>
            <a:endParaRPr lang="en-US" sz="19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Prioritize the riskiest machines first.</a:t>
            </a:r>
            <a:endParaRPr lang="en-US" sz="19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Trigger alerts and auto-schedule maintenance before failure.</a:t>
            </a:r>
            <a:endParaRPr lang="en-US" sz="1900">
              <a:solidFill>
                <a:srgbClr val="EDF6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300000"/>
            <a:ext cx="65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600" b="1">
                <a:solidFill>
                  <a:srgbClr val="EDF6FF"/>
                </a:solidFill>
              </a:rPr>
              <a:t>Solution Snapshot</a:t>
            </a:r>
            <a:endParaRPr lang="en-US" sz="2600">
              <a:solidFill>
                <a:srgbClr val="EDF6FF"/>
              </a:solidFill>
            </a:endParaRPr>
          </a:p>
        </p:txBody>
      </p:sp>
      <p:sp>
        <p:nvSpPr>
          <p:cNvPr id="3" name="Body"/>
          <p:cNvSpPr txBox="1"/>
          <p:nvPr/>
        </p:nvSpPr>
        <p:spPr>
          <a:xfrm>
            <a:off x="500000" y="1100000"/>
            <a:ext cx="5600000" cy="4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Frontend: Industrial live dashboard in plain HTML/CSS/JS</a:t>
            </a:r>
            <a:endParaRPr lang="en-US" sz="19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Backend: FastAPI for SSE streams, alerts, maintenance, and status</a:t>
            </a:r>
            <a:endParaRPr lang="en-US" sz="19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ML: Per-machine Isolation Forest with dynamic baselines</a:t>
            </a:r>
            <a:endParaRPr lang="en-US" sz="19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Agent: Autonomous prioritization, alert dispatch, and booking loop</a:t>
            </a:r>
            <a:endParaRPr lang="en-US" sz="19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Data: 7-day historical sensor patterns with wear, spikes, and faults</a:t>
            </a:r>
            <a:endParaRPr lang="en-US" sz="1900">
              <a:solidFill>
                <a:srgbClr val="EDF6FF"/>
              </a:solidFill>
            </a:endParaRPr>
          </a:p>
        </p:txBody>
      </p:sp>
      <p:sp>
        <p:nvSpPr>
          <p:cNvPr id="4" name="Highlight"/>
          <p:cNvSpPr/>
          <p:nvPr/>
        </p:nvSpPr>
        <p:spPr>
          <a:xfrm>
            <a:off x="7000000" y="1200000"/>
            <a:ext cx="4000000" cy="3400000"/>
          </a:xfrm>
          <a:prstGeom prst="roundRect">
            <a:avLst/>
          </a:prstGeom>
          <a:solidFill>
            <a:srgbClr val="14304F"/>
          </a:solidFill>
          <a:ln w="19050">
            <a:solidFill>
              <a:srgbClr val="FF9A57"/>
            </a:solidFill>
          </a:ln>
        </p:spPr>
        <p:txBody>
          <a:bodyPr wrap="square" rtlCol="0" anchor="ctr"/>
          <a:lstStyle/>
          <a:p>
            <a:r>
              <a:rPr lang="en-US" sz="2000" b="1">
                <a:solidFill>
                  <a:srgbClr val="EDF6FF"/>
                </a:solidFill>
              </a:rPr>
              <a:t>What makes it hackathon-ready?
Single dashboard
Clear risk score
Plain-English explanations
Real-time operations flow</a:t>
            </a:r>
            <a:endParaRPr lang="en-US" sz="2000">
              <a:solidFill>
                <a:srgbClr val="EDF6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30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600" b="1">
                <a:solidFill>
                  <a:srgbClr val="EDF6FF"/>
                </a:solidFill>
              </a:rPr>
              <a:t>System Architecture Flow</a:t>
            </a:r>
            <a:endParaRPr lang="en-US" sz="2600">
              <a:solidFill>
                <a:srgbClr val="EDF6FF"/>
              </a:solidFill>
            </a:endParaRPr>
          </a:p>
        </p:txBody>
      </p:sp>
      <p:sp>
        <p:nvSpPr>
          <p:cNvPr id="3" name="Box 1"/>
          <p:cNvSpPr/>
          <p:nvPr/>
        </p:nvSpPr>
        <p:spPr>
          <a:xfrm>
            <a:off x="500000" y="1600000"/>
            <a:ext cx="1900000" cy="850000"/>
          </a:xfrm>
          <a:prstGeom prst="roundRect">
            <a:avLst/>
          </a:prstGeom>
          <a:solidFill>
            <a:srgbClr val="113251"/>
          </a:solidFill>
          <a:ln w="19050">
            <a:solidFill>
              <a:srgbClr val="5BE7FF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Sensor Streams
4 Machines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4" name="Arrow 4"/>
          <p:cNvSpPr txBox="1"/>
          <p:nvPr/>
        </p:nvSpPr>
        <p:spPr>
          <a:xfrm>
            <a:off x="2550000" y="182000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 b="1">
                <a:solidFill>
                  <a:srgbClr val="5BE7FF"/>
                </a:solidFill>
              </a:rPr>
              <a:t>→</a:t>
            </a:r>
            <a:endParaRPr lang="en-US" sz="2800">
              <a:solidFill>
                <a:srgbClr val="5BE7FF"/>
              </a:solidFill>
            </a:endParaRPr>
          </a:p>
        </p:txBody>
      </p:sp>
      <p:sp>
        <p:nvSpPr>
          <p:cNvPr id="5" name="Box 2"/>
          <p:cNvSpPr/>
          <p:nvPr/>
        </p:nvSpPr>
        <p:spPr>
          <a:xfrm>
            <a:off x="3100000" y="1600000"/>
            <a:ext cx="2300000" cy="850000"/>
          </a:xfrm>
          <a:prstGeom prst="roundRect">
            <a:avLst/>
          </a:prstGeom>
          <a:solidFill>
            <a:srgbClr val="113251"/>
          </a:solidFill>
          <a:ln w="19050">
            <a:solidFill>
              <a:srgbClr val="39F0A7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Node Simulator
/history + /stream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6" name="Arrow 6"/>
          <p:cNvSpPr txBox="1"/>
          <p:nvPr/>
        </p:nvSpPr>
        <p:spPr>
          <a:xfrm>
            <a:off x="5600000" y="182000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 b="1">
                <a:solidFill>
                  <a:srgbClr val="5BE7FF"/>
                </a:solidFill>
              </a:rPr>
              <a:t>→</a:t>
            </a:r>
            <a:endParaRPr lang="en-US" sz="2800">
              <a:solidFill>
                <a:srgbClr val="5BE7FF"/>
              </a:solidFill>
            </a:endParaRPr>
          </a:p>
        </p:txBody>
      </p:sp>
      <p:sp>
        <p:nvSpPr>
          <p:cNvPr id="7" name="Box 3"/>
          <p:cNvSpPr/>
          <p:nvPr/>
        </p:nvSpPr>
        <p:spPr>
          <a:xfrm>
            <a:off x="6150000" y="1600000"/>
            <a:ext cx="2300000" cy="850000"/>
          </a:xfrm>
          <a:prstGeom prst="roundRect">
            <a:avLst/>
          </a:prstGeom>
          <a:solidFill>
            <a:srgbClr val="113251"/>
          </a:solidFill>
          <a:ln w="19050">
            <a:solidFill>
              <a:srgbClr val="FFD36A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FastAPI Backend
score + alert APIs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8" name="Arrow 8"/>
          <p:cNvSpPr txBox="1"/>
          <p:nvPr/>
        </p:nvSpPr>
        <p:spPr>
          <a:xfrm>
            <a:off x="8650000" y="1820000"/>
            <a:ext cx="4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 b="1">
                <a:solidFill>
                  <a:srgbClr val="5BE7FF"/>
                </a:solidFill>
              </a:rPr>
              <a:t>→</a:t>
            </a:r>
            <a:endParaRPr lang="en-US" sz="2800">
              <a:solidFill>
                <a:srgbClr val="5BE7FF"/>
              </a:solidFill>
            </a:endParaRPr>
          </a:p>
        </p:txBody>
      </p:sp>
      <p:sp>
        <p:nvSpPr>
          <p:cNvPr id="9" name="Box 4"/>
          <p:cNvSpPr/>
          <p:nvPr/>
        </p:nvSpPr>
        <p:spPr>
          <a:xfrm>
            <a:off x="9200000" y="1600000"/>
            <a:ext cx="2300000" cy="850000"/>
          </a:xfrm>
          <a:prstGeom prst="roundRect">
            <a:avLst/>
          </a:prstGeom>
          <a:solidFill>
            <a:srgbClr val="113251"/>
          </a:solidFill>
          <a:ln w="19050">
            <a:solidFill>
              <a:srgbClr val="FF9A57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Dashboard UI
live risk board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10" name="Agent"/>
          <p:cNvSpPr/>
          <p:nvPr/>
        </p:nvSpPr>
        <p:spPr>
          <a:xfrm>
            <a:off x="4100000" y="3450000"/>
            <a:ext cx="4000000" cy="1000000"/>
          </a:xfrm>
          <a:prstGeom prst="roundRect">
            <a:avLst/>
          </a:prstGeom>
          <a:solidFill>
            <a:srgbClr val="0F2742"/>
          </a:solidFill>
          <a:ln w="19050">
            <a:solidFill>
              <a:srgbClr val="FF6B7C"/>
            </a:solidFill>
          </a:ln>
        </p:spPr>
        <p:txBody>
          <a:bodyPr wrap="square" rtlCol="0" anchor="ctr"/>
          <a:lstStyle/>
          <a:p>
            <a:r>
              <a:rPr lang="en-US" sz="1900" b="1">
                <a:solidFill>
                  <a:srgbClr val="EDF6FF"/>
                </a:solidFill>
              </a:rPr>
              <a:t>Autonomous Agent Loop
prioritizes critical events and schedules maintenance</a:t>
            </a:r>
            <a:endParaRPr lang="en-US" sz="1900">
              <a:solidFill>
                <a:srgbClr val="EDF6FF"/>
              </a:solidFill>
            </a:endParaRPr>
          </a:p>
        </p:txBody>
      </p:sp>
      <p:sp>
        <p:nvSpPr>
          <p:cNvPr id="11" name="Caption"/>
          <p:cNvSpPr txBox="1"/>
          <p:nvPr/>
        </p:nvSpPr>
        <p:spPr>
          <a:xfrm>
            <a:off x="1100000" y="5200000"/>
            <a:ext cx="9500000" cy="6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700" b="0">
                <a:solidFill>
                  <a:srgbClr val="9CB1CC"/>
                </a:solidFill>
              </a:rPr>
              <a:t>Live data flows left to right. Decision automation sits on top of the backend and reacts to critical machine states.</a:t>
            </a:r>
            <a:endParaRPr lang="en-US" sz="1700">
              <a:solidFill>
                <a:srgbClr val="9CB1CC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30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600" b="1">
                <a:solidFill>
                  <a:srgbClr val="EDF6FF"/>
                </a:solidFill>
              </a:rPr>
              <a:t>ML Pipeline Flow</a:t>
            </a:r>
            <a:endParaRPr lang="en-US" sz="2600">
              <a:solidFill>
                <a:srgbClr val="EDF6FF"/>
              </a:solidFill>
            </a:endParaRPr>
          </a:p>
        </p:txBody>
      </p:sp>
      <p:sp>
        <p:nvSpPr>
          <p:cNvPr id="3" name="Step 1"/>
          <p:cNvSpPr/>
          <p:nvPr/>
        </p:nvSpPr>
        <p:spPr>
          <a:xfrm>
            <a:off x="500000" y="1500000"/>
            <a:ext cx="1900000" cy="850000"/>
          </a:xfrm>
          <a:prstGeom prst="roundRect">
            <a:avLst/>
          </a:prstGeom>
          <a:solidFill>
            <a:srgbClr val="0F2742"/>
          </a:solidFill>
          <a:ln w="19050">
            <a:solidFill>
              <a:srgbClr val="5BE7FF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History CSV
7-Day Sensor Data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4" name="Arrow 4"/>
          <p:cNvSpPr txBox="1"/>
          <p:nvPr/>
        </p:nvSpPr>
        <p:spPr>
          <a:xfrm>
            <a:off x="2500000" y="171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 b="1">
                <a:solidFill>
                  <a:srgbClr val="5BE7FF"/>
                </a:solidFill>
              </a:rPr>
              <a:t>→</a:t>
            </a:r>
            <a:endParaRPr lang="en-US" sz="2800">
              <a:solidFill>
                <a:srgbClr val="5BE7FF"/>
              </a:solidFill>
            </a:endParaRPr>
          </a:p>
        </p:txBody>
      </p:sp>
      <p:sp>
        <p:nvSpPr>
          <p:cNvPr id="5" name="Step 2"/>
          <p:cNvSpPr/>
          <p:nvPr/>
        </p:nvSpPr>
        <p:spPr>
          <a:xfrm>
            <a:off x="2900000" y="1500000"/>
            <a:ext cx="2100000" cy="850000"/>
          </a:xfrm>
          <a:prstGeom prst="roundRect">
            <a:avLst/>
          </a:prstGeom>
          <a:solidFill>
            <a:srgbClr val="0F2742"/>
          </a:solidFill>
          <a:ln w="19050">
            <a:solidFill>
              <a:srgbClr val="39F0A7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Baselines
mean/std/range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6" name="Arrow 6"/>
          <p:cNvSpPr txBox="1"/>
          <p:nvPr/>
        </p:nvSpPr>
        <p:spPr>
          <a:xfrm>
            <a:off x="5150000" y="171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 b="1">
                <a:solidFill>
                  <a:srgbClr val="5BE7FF"/>
                </a:solidFill>
              </a:rPr>
              <a:t>→</a:t>
            </a:r>
            <a:endParaRPr lang="en-US" sz="2800">
              <a:solidFill>
                <a:srgbClr val="5BE7FF"/>
              </a:solidFill>
            </a:endParaRPr>
          </a:p>
        </p:txBody>
      </p:sp>
      <p:sp>
        <p:nvSpPr>
          <p:cNvPr id="7" name="Step 3"/>
          <p:cNvSpPr/>
          <p:nvPr/>
        </p:nvSpPr>
        <p:spPr>
          <a:xfrm>
            <a:off x="5550000" y="1500000"/>
            <a:ext cx="2100000" cy="850000"/>
          </a:xfrm>
          <a:prstGeom prst="roundRect">
            <a:avLst/>
          </a:prstGeom>
          <a:solidFill>
            <a:srgbClr val="0F2742"/>
          </a:solidFill>
          <a:ln w="19050">
            <a:solidFill>
              <a:srgbClr val="FFD36A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Isolation Forest
per machine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8" name="Arrow 8"/>
          <p:cNvSpPr txBox="1"/>
          <p:nvPr/>
        </p:nvSpPr>
        <p:spPr>
          <a:xfrm>
            <a:off x="7800000" y="1710000"/>
            <a:ext cx="3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 b="1">
                <a:solidFill>
                  <a:srgbClr val="5BE7FF"/>
                </a:solidFill>
              </a:rPr>
              <a:t>→</a:t>
            </a:r>
            <a:endParaRPr lang="en-US" sz="2800">
              <a:solidFill>
                <a:srgbClr val="5BE7FF"/>
              </a:solidFill>
            </a:endParaRPr>
          </a:p>
        </p:txBody>
      </p:sp>
      <p:sp>
        <p:nvSpPr>
          <p:cNvPr id="9" name="Step 4"/>
          <p:cNvSpPr/>
          <p:nvPr/>
        </p:nvSpPr>
        <p:spPr>
          <a:xfrm>
            <a:off x="8200000" y="1500000"/>
            <a:ext cx="3000000" cy="850000"/>
          </a:xfrm>
          <a:prstGeom prst="roundRect">
            <a:avLst/>
          </a:prstGeom>
          <a:solidFill>
            <a:srgbClr val="0F2742"/>
          </a:solidFill>
          <a:ln w="19050">
            <a:solidFill>
              <a:srgbClr val="FF9A57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Risk Engine
z-score + compound + drift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10" name="Output"/>
          <p:cNvSpPr/>
          <p:nvPr/>
        </p:nvSpPr>
        <p:spPr>
          <a:xfrm>
            <a:off x="2800000" y="3400000"/>
            <a:ext cx="6500000" cy="1100000"/>
          </a:xfrm>
          <a:prstGeom prst="roundRect">
            <a:avLst/>
          </a:prstGeom>
          <a:solidFill>
            <a:srgbClr val="113251"/>
          </a:solidFill>
          <a:ln w="19050">
            <a:solidFill>
              <a:srgbClr val="FF6B7C"/>
            </a:solidFill>
          </a:ln>
        </p:spPr>
        <p:txBody>
          <a:bodyPr wrap="square" rtlCol="0" anchor="ctr"/>
          <a:lstStyle/>
          <a:p>
            <a:r>
              <a:rPr lang="en-US" sz="2200" b="1">
                <a:solidFill>
                  <a:srgbClr val="EDF6FF"/>
                </a:solidFill>
              </a:rPr>
              <a:t>Output: risk_score, risk_level, explanation, alert decision</a:t>
            </a:r>
            <a:endParaRPr lang="en-US" sz="2200">
              <a:solidFill>
                <a:srgbClr val="EDF6FF"/>
              </a:solidFill>
            </a:endParaRPr>
          </a:p>
        </p:txBody>
      </p:sp>
      <p:sp>
        <p:nvSpPr>
          <p:cNvPr id="11" name="Caption"/>
          <p:cNvSpPr txBox="1"/>
          <p:nvPr/>
        </p:nvSpPr>
        <p:spPr>
          <a:xfrm>
            <a:off x="1200000" y="5000000"/>
            <a:ext cx="95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700" b="0">
                <a:solidFill>
                  <a:srgbClr val="9CB1CC"/>
                </a:solidFill>
              </a:rPr>
              <a:t>This combines unsupervised anomaly detection with interpretable threshold-based reasoning, which is ideal for a hackathon demo.</a:t>
            </a:r>
            <a:endParaRPr lang="en-US" sz="1700">
              <a:solidFill>
                <a:srgbClr val="9CB1C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300000"/>
            <a:ext cx="78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600" b="1">
                <a:solidFill>
                  <a:srgbClr val="EDF6FF"/>
                </a:solidFill>
              </a:rPr>
              <a:t>Real-Time Alert Flow</a:t>
            </a:r>
            <a:endParaRPr lang="en-US" sz="2600">
              <a:solidFill>
                <a:srgbClr val="EDF6FF"/>
              </a:solidFill>
            </a:endParaRPr>
          </a:p>
        </p:txBody>
      </p:sp>
      <p:sp>
        <p:nvSpPr>
          <p:cNvPr id="3" name="A"/>
          <p:cNvSpPr/>
          <p:nvPr/>
        </p:nvSpPr>
        <p:spPr>
          <a:xfrm>
            <a:off x="500000" y="1650000"/>
            <a:ext cx="1900000" cy="800000"/>
          </a:xfrm>
          <a:prstGeom prst="roundRect">
            <a:avLst/>
          </a:prstGeom>
          <a:solidFill>
            <a:srgbClr val="113251"/>
          </a:solidFill>
          <a:ln w="19050">
            <a:solidFill>
              <a:srgbClr val="5BE7FF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Incoming Reading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4" name="Arrow 4"/>
          <p:cNvSpPr txBox="1"/>
          <p:nvPr/>
        </p:nvSpPr>
        <p:spPr>
          <a:xfrm>
            <a:off x="2550000" y="1840000"/>
            <a:ext cx="35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 b="1">
                <a:solidFill>
                  <a:srgbClr val="5BE7FF"/>
                </a:solidFill>
              </a:rPr>
              <a:t>→</a:t>
            </a:r>
            <a:endParaRPr lang="en-US" sz="2800">
              <a:solidFill>
                <a:srgbClr val="5BE7FF"/>
              </a:solidFill>
            </a:endParaRPr>
          </a:p>
        </p:txBody>
      </p:sp>
      <p:sp>
        <p:nvSpPr>
          <p:cNvPr id="5" name="B"/>
          <p:cNvSpPr/>
          <p:nvPr/>
        </p:nvSpPr>
        <p:spPr>
          <a:xfrm>
            <a:off x="3050000" y="1650000"/>
            <a:ext cx="2000000" cy="800000"/>
          </a:xfrm>
          <a:prstGeom prst="roundRect">
            <a:avLst/>
          </a:prstGeom>
          <a:solidFill>
            <a:srgbClr val="113251"/>
          </a:solidFill>
          <a:ln w="19050">
            <a:solidFill>
              <a:srgbClr val="39F0A7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Model Scoring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6" name="Arrow 6"/>
          <p:cNvSpPr txBox="1"/>
          <p:nvPr/>
        </p:nvSpPr>
        <p:spPr>
          <a:xfrm>
            <a:off x="5200000" y="1840000"/>
            <a:ext cx="35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 b="1">
                <a:solidFill>
                  <a:srgbClr val="5BE7FF"/>
                </a:solidFill>
              </a:rPr>
              <a:t>→</a:t>
            </a:r>
            <a:endParaRPr lang="en-US" sz="2800">
              <a:solidFill>
                <a:srgbClr val="5BE7FF"/>
              </a:solidFill>
            </a:endParaRPr>
          </a:p>
        </p:txBody>
      </p:sp>
      <p:sp>
        <p:nvSpPr>
          <p:cNvPr id="7" name="C"/>
          <p:cNvSpPr/>
          <p:nvPr/>
        </p:nvSpPr>
        <p:spPr>
          <a:xfrm>
            <a:off x="5700000" y="1650000"/>
            <a:ext cx="2300000" cy="800000"/>
          </a:xfrm>
          <a:prstGeom prst="roundRect">
            <a:avLst/>
          </a:prstGeom>
          <a:solidFill>
            <a:srgbClr val="113251"/>
          </a:solidFill>
          <a:ln w="19050">
            <a:solidFill>
              <a:srgbClr val="FFD36A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Critical / Warning?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8" name="Arrow 8"/>
          <p:cNvSpPr txBox="1"/>
          <p:nvPr/>
        </p:nvSpPr>
        <p:spPr>
          <a:xfrm>
            <a:off x="8150000" y="1840000"/>
            <a:ext cx="35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800" b="1">
                <a:solidFill>
                  <a:srgbClr val="5BE7FF"/>
                </a:solidFill>
              </a:rPr>
              <a:t>→</a:t>
            </a:r>
            <a:endParaRPr lang="en-US" sz="2800">
              <a:solidFill>
                <a:srgbClr val="5BE7FF"/>
              </a:solidFill>
            </a:endParaRPr>
          </a:p>
        </p:txBody>
      </p:sp>
      <p:sp>
        <p:nvSpPr>
          <p:cNvPr id="9" name="D"/>
          <p:cNvSpPr/>
          <p:nvPr/>
        </p:nvSpPr>
        <p:spPr>
          <a:xfrm>
            <a:off x="8650000" y="1650000"/>
            <a:ext cx="2500000" cy="800000"/>
          </a:xfrm>
          <a:prstGeom prst="roundRect">
            <a:avLst/>
          </a:prstGeom>
          <a:solidFill>
            <a:srgbClr val="113251"/>
          </a:solidFill>
          <a:ln w="19050">
            <a:solidFill>
              <a:srgbClr val="FF6B7C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POST /alert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10" name="Down"/>
          <p:cNvSpPr txBox="1"/>
          <p:nvPr/>
        </p:nvSpPr>
        <p:spPr>
          <a:xfrm>
            <a:off x="9300000" y="2700000"/>
            <a:ext cx="7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3000" b="1">
                <a:solidFill>
                  <a:srgbClr val="FF9A57"/>
                </a:solidFill>
              </a:rPr>
              <a:t>↓</a:t>
            </a:r>
            <a:endParaRPr lang="en-US" sz="3000">
              <a:solidFill>
                <a:srgbClr val="FF9A57"/>
              </a:solidFill>
            </a:endParaRPr>
          </a:p>
        </p:txBody>
      </p:sp>
      <p:sp>
        <p:nvSpPr>
          <p:cNvPr id="11" name="E"/>
          <p:cNvSpPr/>
          <p:nvPr/>
        </p:nvSpPr>
        <p:spPr>
          <a:xfrm>
            <a:off x="8400000" y="3300000"/>
            <a:ext cx="2800000" cy="900000"/>
          </a:xfrm>
          <a:prstGeom prst="roundRect">
            <a:avLst/>
          </a:prstGeom>
          <a:solidFill>
            <a:srgbClr val="0F2742"/>
          </a:solidFill>
          <a:ln w="19050">
            <a:solidFill>
              <a:srgbClr val="FF9A57"/>
            </a:solidFill>
          </a:ln>
        </p:spPr>
        <p:txBody>
          <a:bodyPr wrap="square" rtlCol="0" anchor="ctr"/>
          <a:lstStyle/>
          <a:p>
            <a:r>
              <a:rPr lang="en-US" sz="1800" b="1">
                <a:solidFill>
                  <a:srgbClr val="EDF6FF"/>
                </a:solidFill>
              </a:rPr>
              <a:t>Auto Maintenance Booking
POST /schedule-maintenance</a:t>
            </a:r>
            <a:endParaRPr lang="en-US" sz="1800">
              <a:solidFill>
                <a:srgbClr val="EDF6FF"/>
              </a:solidFill>
            </a:endParaRPr>
          </a:p>
        </p:txBody>
      </p:sp>
      <p:sp>
        <p:nvSpPr>
          <p:cNvPr id="12" name="Caption"/>
          <p:cNvSpPr txBox="1"/>
          <p:nvPr/>
        </p:nvSpPr>
        <p:spPr>
          <a:xfrm>
            <a:off x="900000" y="5000000"/>
            <a:ext cx="9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700" b="0">
                <a:solidFill>
                  <a:srgbClr val="9CB1CC"/>
                </a:solidFill>
              </a:rPr>
              <a:t>Alerts and maintenance can now be streamed live to the dashboard, making the decision loop visible in real time.</a:t>
            </a:r>
            <a:endParaRPr lang="en-US" sz="1700">
              <a:solidFill>
                <a:srgbClr val="9CB1CC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300000"/>
            <a:ext cx="72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600" b="1">
                <a:solidFill>
                  <a:srgbClr val="EDF6FF"/>
                </a:solidFill>
              </a:rPr>
              <a:t>Results &amp; Validation</a:t>
            </a:r>
            <a:endParaRPr lang="en-US" sz="2600">
              <a:solidFill>
                <a:srgbClr val="EDF6FF"/>
              </a:solidFill>
            </a:endParaRPr>
          </a:p>
        </p:txBody>
      </p:sp>
      <p:sp>
        <p:nvSpPr>
          <p:cNvPr id="3" name="Metric A"/>
          <p:cNvSpPr/>
          <p:nvPr/>
        </p:nvSpPr>
        <p:spPr>
          <a:xfrm>
            <a:off x="650000" y="1250000"/>
            <a:ext cx="2450000" cy="1200000"/>
          </a:xfrm>
          <a:prstGeom prst="roundRect">
            <a:avLst/>
          </a:prstGeom>
          <a:solidFill>
            <a:srgbClr val="12304D"/>
          </a:solidFill>
          <a:ln w="19050">
            <a:solidFill>
              <a:srgbClr val="5BE7FF"/>
            </a:solidFill>
          </a:ln>
        </p:spPr>
        <p:txBody>
          <a:bodyPr wrap="square" rtlCol="0" anchor="ctr"/>
          <a:lstStyle/>
          <a:p>
            <a:r>
              <a:rPr lang="en-US" sz="2200" b="1">
                <a:solidFill>
                  <a:srgbClr val="EDF6FF"/>
                </a:solidFill>
              </a:rPr>
              <a:t>Offline Holdout Accuracy
76.18%</a:t>
            </a:r>
            <a:endParaRPr lang="en-US" sz="2200">
              <a:solidFill>
                <a:srgbClr val="EDF6FF"/>
              </a:solidFill>
            </a:endParaRPr>
          </a:p>
        </p:txBody>
      </p:sp>
      <p:sp>
        <p:nvSpPr>
          <p:cNvPr id="4" name="Metric B"/>
          <p:cNvSpPr/>
          <p:nvPr/>
        </p:nvSpPr>
        <p:spPr>
          <a:xfrm>
            <a:off x="3200000" y="1250000"/>
            <a:ext cx="2450000" cy="1200000"/>
          </a:xfrm>
          <a:prstGeom prst="roundRect">
            <a:avLst/>
          </a:prstGeom>
          <a:solidFill>
            <a:srgbClr val="12304D"/>
          </a:solidFill>
          <a:ln w="19050">
            <a:solidFill>
              <a:srgbClr val="39F0A7"/>
            </a:solidFill>
          </a:ln>
        </p:spPr>
        <p:txBody>
          <a:bodyPr wrap="square" rtlCol="0" anchor="ctr"/>
          <a:lstStyle/>
          <a:p>
            <a:r>
              <a:rPr lang="en-US" sz="2200" b="1">
                <a:solidFill>
                  <a:srgbClr val="EDF6FF"/>
                </a:solidFill>
              </a:rPr>
              <a:t>Precision
89.13%</a:t>
            </a:r>
            <a:endParaRPr lang="en-US" sz="2200">
              <a:solidFill>
                <a:srgbClr val="EDF6FF"/>
              </a:solidFill>
            </a:endParaRPr>
          </a:p>
        </p:txBody>
      </p:sp>
      <p:sp>
        <p:nvSpPr>
          <p:cNvPr id="5" name="Metric C"/>
          <p:cNvSpPr/>
          <p:nvPr/>
        </p:nvSpPr>
        <p:spPr>
          <a:xfrm>
            <a:off x="5750000" y="1250000"/>
            <a:ext cx="2450000" cy="1200000"/>
          </a:xfrm>
          <a:prstGeom prst="roundRect">
            <a:avLst/>
          </a:prstGeom>
          <a:solidFill>
            <a:srgbClr val="12304D"/>
          </a:solidFill>
          <a:ln w="19050">
            <a:solidFill>
              <a:srgbClr val="FFD36A"/>
            </a:solidFill>
          </a:ln>
        </p:spPr>
        <p:txBody>
          <a:bodyPr wrap="square" rtlCol="0" anchor="ctr"/>
          <a:lstStyle/>
          <a:p>
            <a:r>
              <a:rPr lang="en-US" sz="2200" b="1">
                <a:solidFill>
                  <a:srgbClr val="EDF6FF"/>
                </a:solidFill>
              </a:rPr>
              <a:t>Recall
59.00%</a:t>
            </a:r>
            <a:endParaRPr lang="en-US" sz="2200">
              <a:solidFill>
                <a:srgbClr val="EDF6FF"/>
              </a:solidFill>
            </a:endParaRPr>
          </a:p>
        </p:txBody>
      </p:sp>
      <p:sp>
        <p:nvSpPr>
          <p:cNvPr id="6" name="Metric D"/>
          <p:cNvSpPr/>
          <p:nvPr/>
        </p:nvSpPr>
        <p:spPr>
          <a:xfrm>
            <a:off x="8300000" y="1250000"/>
            <a:ext cx="2450000" cy="1200000"/>
          </a:xfrm>
          <a:prstGeom prst="roundRect">
            <a:avLst/>
          </a:prstGeom>
          <a:solidFill>
            <a:srgbClr val="12304D"/>
          </a:solidFill>
          <a:ln w="19050">
            <a:solidFill>
              <a:srgbClr val="FF9A57"/>
            </a:solidFill>
          </a:ln>
        </p:spPr>
        <p:txBody>
          <a:bodyPr wrap="square" rtlCol="0" anchor="ctr"/>
          <a:lstStyle/>
          <a:p>
            <a:r>
              <a:rPr lang="en-US" sz="2200" b="1">
                <a:solidFill>
                  <a:srgbClr val="EDF6FF"/>
                </a:solidFill>
              </a:rPr>
              <a:t>F1 Score
71.00%</a:t>
            </a:r>
            <a:endParaRPr lang="en-US" sz="2200">
              <a:solidFill>
                <a:srgbClr val="EDF6FF"/>
              </a:solidFill>
            </a:endParaRPr>
          </a:p>
        </p:txBody>
      </p:sp>
      <p:sp>
        <p:nvSpPr>
          <p:cNvPr id="7" name="Notes"/>
          <p:cNvSpPr txBox="1"/>
          <p:nvPr/>
        </p:nvSpPr>
        <p:spPr>
          <a:xfrm>
            <a:off x="700000" y="3200000"/>
            <a:ext cx="10000000" cy="2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CNC_01 and CNC_02 show strong detection on labeled historical faults.</a:t>
            </a:r>
            <a:endParaRPr lang="en-US" sz="19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PUMP_03 remains the hardest machine and is the main opportunity for improvement.</a:t>
            </a:r>
            <a:endParaRPr lang="en-US" sz="19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1900" b="0">
                <a:solidFill>
                  <a:srgbClr val="EDF6FF"/>
                </a:solidFill>
              </a:rPr>
              <a:t>Current evaluation is a time-based holdout, not a production benchmark.</a:t>
            </a:r>
            <a:endParaRPr lang="en-US" sz="1900">
              <a:solidFill>
                <a:srgbClr val="EDF6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0000" y="300000"/>
            <a:ext cx="7600000" cy="5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2600" b="1">
                <a:solidFill>
                  <a:srgbClr val="EDF6FF"/>
                </a:solidFill>
              </a:rPr>
              <a:t>Demo Flow &amp; Closing</a:t>
            </a:r>
            <a:endParaRPr lang="en-US" sz="2600">
              <a:solidFill>
                <a:srgbClr val="EDF6FF"/>
              </a:solidFill>
            </a:endParaRPr>
          </a:p>
        </p:txBody>
      </p:sp>
      <p:sp>
        <p:nvSpPr>
          <p:cNvPr id="3" name="Body"/>
          <p:cNvSpPr txBox="1"/>
          <p:nvPr/>
        </p:nvSpPr>
        <p:spPr>
          <a:xfrm>
            <a:off x="600000" y="1200000"/>
            <a:ext cx="58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pPr marL="342900" indent="-171450">
              <a:buChar char="•"/>
            </a:pPr>
            <a:r>
              <a:rPr lang="en-US" sz="2000" b="0">
                <a:solidFill>
                  <a:srgbClr val="EDF6FF"/>
                </a:solidFill>
              </a:rPr>
              <a:t>1. Start Node simulator</a:t>
            </a:r>
            <a:endParaRPr lang="en-US" sz="20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2000" b="0">
                <a:solidFill>
                  <a:srgbClr val="EDF6FF"/>
                </a:solidFill>
              </a:rPr>
              <a:t>2. Start FastAPI backend</a:t>
            </a:r>
            <a:endParaRPr lang="en-US" sz="20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2000" b="0">
                <a:solidFill>
                  <a:srgbClr val="EDF6FF"/>
                </a:solidFill>
              </a:rPr>
              <a:t>3. Start autonomous agent loop</a:t>
            </a:r>
            <a:endParaRPr lang="en-US" sz="20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2000" b="0">
                <a:solidFill>
                  <a:srgbClr val="EDF6FF"/>
                </a:solidFill>
              </a:rPr>
              <a:t>4. Open dashboard and show live machine ranking</a:t>
            </a:r>
            <a:endParaRPr lang="en-US" sz="2000">
              <a:solidFill>
                <a:srgbClr val="EDF6FF"/>
              </a:solidFill>
            </a:endParaRPr>
          </a:p>
          <a:p>
            <a:pPr marL="342900" indent="-171450">
              <a:buChar char="•"/>
            </a:pPr>
            <a:r>
              <a:rPr lang="en-US" sz="2000" b="0">
                <a:solidFill>
                  <a:srgbClr val="EDF6FF"/>
                </a:solidFill>
              </a:rPr>
              <a:t>5. Trigger alert and auto-maintenance in real time</a:t>
            </a:r>
            <a:endParaRPr lang="en-US" sz="2000">
              <a:solidFill>
                <a:srgbClr val="EDF6FF"/>
              </a:solidFill>
            </a:endParaRPr>
          </a:p>
        </p:txBody>
      </p:sp>
      <p:sp>
        <p:nvSpPr>
          <p:cNvPr id="4" name="Close"/>
          <p:cNvSpPr/>
          <p:nvPr/>
        </p:nvSpPr>
        <p:spPr>
          <a:xfrm>
            <a:off x="7100000" y="1400000"/>
            <a:ext cx="3900000" cy="2600000"/>
          </a:xfrm>
          <a:prstGeom prst="roundRect">
            <a:avLst/>
          </a:prstGeom>
          <a:solidFill>
            <a:srgbClr val="14304F"/>
          </a:solidFill>
          <a:ln w="19050">
            <a:solidFill>
              <a:srgbClr val="5BE7FF"/>
            </a:solidFill>
          </a:ln>
        </p:spPr>
        <p:txBody>
          <a:bodyPr wrap="square" rtlCol="0" anchor="ctr"/>
          <a:lstStyle/>
          <a:p>
            <a:r>
              <a:rPr lang="en-US" sz="2000" b="1">
                <a:solidFill>
                  <a:srgbClr val="EDF6FF"/>
                </a:solidFill>
              </a:rPr>
              <a:t>Why this stands out
Real-time UI
Explainable scoring
Priority queue
Operational action, not just prediction</a:t>
            </a:r>
            <a:endParaRPr lang="en-US" sz="2000">
              <a:solidFill>
                <a:srgbClr val="EDF6FF"/>
              </a:solidFill>
            </a:endParaRPr>
          </a:p>
        </p:txBody>
      </p:sp>
      <p:sp>
        <p:nvSpPr>
          <p:cNvPr id="5" name="Footer"/>
          <p:cNvSpPr txBox="1"/>
          <p:nvPr/>
        </p:nvSpPr>
        <p:spPr>
          <a:xfrm>
            <a:off x="600000" y="5600000"/>
            <a:ext cx="50000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/>
          <a:lstStyle/>
          <a:p>
            <a:r>
              <a:rPr lang="en-US" sz="1500" b="0">
                <a:solidFill>
                  <a:srgbClr val="9CB1CC"/>
                </a:solidFill>
              </a:rPr>
              <a:t>PredictaMaint | AI-powered preventive decisions for industrial assets</a:t>
            </a:r>
            <a:endParaRPr lang="en-US" sz="1500">
              <a:solidFill>
                <a:srgbClr val="9CB1C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dictaMaint Theme">
  <a:themeElements>
    <a:clrScheme name="PredictaMaint">
      <a:dk1>
        <a:srgbClr val="07111F"/>
      </a:dk1>
      <a:lt1>
        <a:srgbClr val="EDF6FF"/>
      </a:lt1>
      <a:dk2>
        <a:srgbClr val="10263F"/>
      </a:dk2>
      <a:lt2>
        <a:srgbClr val="D9E8F5"/>
      </a:lt2>
      <a:accent1>
        <a:srgbClr val="5BE7FF"/>
      </a:accent1>
      <a:accent2>
        <a:srgbClr val="39F0A7"/>
      </a:accent2>
      <a:accent3>
        <a:srgbClr val="FFD36A"/>
      </a:accent3>
      <a:accent4>
        <a:srgbClr val="FF9A57"/>
      </a:accent4>
      <a:accent5>
        <a:srgbClr val="FF6B7C"/>
      </a:accent5>
      <a:accent6>
        <a:srgbClr val="9CB1CC"/>
      </a:accent6>
      <a:hlink>
        <a:srgbClr val="5BE7FF"/>
      </a:hlink>
      <a:folHlink>
        <a:srgbClr val="FF9A57"/>
      </a:folHlink>
    </a:clrScheme>
    <a:fontScheme name="PredictaMaint Fonts">
      <a:majorFont>
        <a:latin typeface="Aptos Display"/>
      </a:majorFont>
      <a:minorFont>
        <a:latin typeface="Aptos"/>
      </a:minorFont>
    </a:fontScheme>
    <a:fmtScheme name="PredictaMaint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OpenAI Codex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</vt:lpstr>
      <vt:lpstr>Slide</vt:lpstr>
      <vt:lpstr>Slide</vt:lpstr>
      <vt:lpstr>Slide</vt:lpstr>
      <vt:lpstr>Slide</vt:lpstr>
      <vt:lpstr>Slide</vt:lpstr>
      <vt:lpstr>Slide</vt:lpstr>
      <vt:lpstr>Slide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PredictaMaint Hackathon Deck</dc:title>
  <dc:creator>OpenAI Codex</dc:creator>
  <cp:lastModifiedBy>OpenAI Codex</cp:lastModifiedBy>
  <dcterms:created xsi:type="dcterms:W3CDTF">2026-04-17T16:13:34Z</dcterms:created>
  <dcterms:modified xsi:type="dcterms:W3CDTF">2026-04-17T16:13:34Z</dcterms:modified>
</cp:coreProperties>
</file>